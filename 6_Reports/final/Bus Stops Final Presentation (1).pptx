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p:regular r:id="rId20"/>
      <p:bold r:id="rId21"/>
      <p:italic r:id="rId22"/>
      <p:boldItalic r:id="rId23"/>
    </p:embeddedFont>
    <p:embeddedFont>
      <p:font typeface="Alfa Slab One"/>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11" Type="http://schemas.openxmlformats.org/officeDocument/2006/relationships/slide" Target="slides/slide6.xml"/><Relationship Id="rId22" Type="http://schemas.openxmlformats.org/officeDocument/2006/relationships/font" Target="fonts/Montserrat-italic.fntdata"/><Relationship Id="rId10" Type="http://schemas.openxmlformats.org/officeDocument/2006/relationships/slide" Target="slides/slide5.xml"/><Relationship Id="rId21" Type="http://schemas.openxmlformats.org/officeDocument/2006/relationships/font" Target="fonts/Montserrat-bold.fntdata"/><Relationship Id="rId13" Type="http://schemas.openxmlformats.org/officeDocument/2006/relationships/slide" Target="slides/slide8.xml"/><Relationship Id="rId24" Type="http://schemas.openxmlformats.org/officeDocument/2006/relationships/font" Target="fonts/AlfaSlabOne-regular.fntdata"/><Relationship Id="rId12" Type="http://schemas.openxmlformats.org/officeDocument/2006/relationships/slide" Target="slides/slide7.xml"/><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c3fea062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Have you ever had to wait over 10 minutes at a bus stop with no bench? What if it was raining and there was no shelter? Or you had a snack wrapper but there was no trash can to discard it into? Lacking bus stop infrastructure can negatively affect all community members, even if only to the degree of fostering littering due to lack of trash cans. Not having benches or shelters can especially impact bus reliant commuters who cannot stand for long periods of time due to things like physical ailments, age, or pregnancy</a:t>
            </a:r>
            <a:endParaRPr/>
          </a:p>
        </p:txBody>
      </p:sp>
      <p:sp>
        <p:nvSpPr>
          <p:cNvPr id="52" name="Google Shape;52;g3dc3fea062f_1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c3fea062f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3dc3fea062f_1_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c3fea062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dc3fea062f_1_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c3fea062f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final joined dataset represents 5253 bus stops in Montgomery County across 23 variables. There are 26 towns which include cities like Rockville and Gaithersburg as well as  census-designated places which notably include populous places like Silver Spring, Bethesda and Germantown.</a:t>
            </a:r>
            <a:endParaRPr/>
          </a:p>
          <a:p>
            <a:pPr indent="0" lvl="0" marL="0" rtl="0" algn="l">
              <a:spcBef>
                <a:spcPts val="0"/>
              </a:spcBef>
              <a:spcAft>
                <a:spcPts val="0"/>
              </a:spcAft>
              <a:buNone/>
            </a:pPr>
            <a:r>
              <a:t/>
            </a:r>
            <a:endParaRPr/>
          </a:p>
        </p:txBody>
      </p:sp>
      <p:sp>
        <p:nvSpPr>
          <p:cNvPr id="95" name="Google Shape;95;g3dc3fea062f_1_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c3fea062f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White Oak stands out as it only has stops that include Metro routes. This inconsistency becomes interesting when looking at the next bar chart which shows the proportion of bus stops with at least one bench for each town</a:t>
            </a:r>
            <a:endParaRPr/>
          </a:p>
        </p:txBody>
      </p:sp>
      <p:sp>
        <p:nvSpPr>
          <p:cNvPr id="112" name="Google Shape;112;g3dc3fea062f_1_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265a3a80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finding made me wonder if the type of routes that a bus stop services, that being RideOn or Metro, had a significant effect on the amount of infrastructure, or amenities, a stop had.</a:t>
            </a:r>
            <a:endParaRPr/>
          </a:p>
        </p:txBody>
      </p:sp>
      <p:sp>
        <p:nvSpPr>
          <p:cNvPr id="119" name="Google Shape;119;g3e265a3a808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265a3a80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Supports the claim that there is an infrastructural difference between RideOn and Metro bus stops.</a:t>
            </a:r>
            <a:endParaRPr/>
          </a:p>
        </p:txBody>
      </p:sp>
      <p:sp>
        <p:nvSpPr>
          <p:cNvPr id="126" name="Google Shape;126;g3e265a3a808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265a3a80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This test resulted in all the amenities having significant p-values (&lt; 0.05) even after Bonferroni correction. This means that the type of route that passes through a stop is strongly associated with whether a stop has amenities.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While the chi-squared test doesn’t tell us this directly, from the previous graph we know that this means that Metro bus stops generally have better infrastructure than RideOn bus stops. </a:t>
            </a:r>
            <a:endParaRPr>
              <a:solidFill>
                <a:schemeClr val="dk1"/>
              </a:solidFill>
            </a:endParaRPr>
          </a:p>
          <a:p>
            <a:pPr indent="0" lvl="0" marL="0" rtl="0" algn="l">
              <a:spcBef>
                <a:spcPts val="0"/>
              </a:spcBef>
              <a:spcAft>
                <a:spcPts val="0"/>
              </a:spcAft>
              <a:buNone/>
            </a:pPr>
            <a:r>
              <a:t/>
            </a:r>
            <a:endParaRPr/>
          </a:p>
        </p:txBody>
      </p:sp>
      <p:sp>
        <p:nvSpPr>
          <p:cNvPr id="133" name="Google Shape;133;g3e265a3a808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265a3a80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
                <a:solidFill>
                  <a:schemeClr val="dk1"/>
                </a:solidFill>
              </a:rPr>
              <a:t>As seen in graph 1…</a:t>
            </a:r>
            <a:endParaRPr>
              <a:solidFill>
                <a:schemeClr val="dk1"/>
              </a:solidFill>
            </a:endParaRPr>
          </a:p>
          <a:p>
            <a:pPr indent="-298450" lvl="0" marL="457200" rtl="0" algn="l">
              <a:lnSpc>
                <a:spcPct val="115000"/>
              </a:lnSpc>
              <a:spcBef>
                <a:spcPts val="0"/>
              </a:spcBef>
              <a:spcAft>
                <a:spcPts val="0"/>
              </a:spcAft>
              <a:buSzPts val="1100"/>
              <a:buChar char="-"/>
            </a:pPr>
            <a:r>
              <a:rPr lang="en">
                <a:solidFill>
                  <a:schemeClr val="dk1"/>
                </a:solidFill>
              </a:rPr>
              <a:t>Metro buses charge a fare while RideOn buses have been free to all riders under 18 since 2019 and completely fare-free since June 29, 2025.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Metro operates across the DMV while RideOn routes operate mainly within the county.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Maryland is currently facing a transportation budget shortfall of $2.1 billion, which can put stress on transit operating budgets (Goffman).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
        <p:nvSpPr>
          <p:cNvPr id="142" name="Google Shape;142;g3e265a3a808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265a3a80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While not specifically represented in this project’s dataset, the town of Leisure World, located near Silver Spring, has a significant amount of active adult homeownership opportunities which cater to the needs of older adults (Montgomery Planning).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
        <p:nvSpPr>
          <p:cNvPr id="152" name="Google Shape;152;g3e265a3a808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265a3a808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p:txBody>
      </p:sp>
      <p:sp>
        <p:nvSpPr>
          <p:cNvPr id="162" name="Google Shape;162;g3e265a3a808_0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265a3a80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 I would be interested to focus more on the nearest neighbors analysis and plot where bus stops are located in specific towns with large and small distances between bus stops with benches. Doing this could potentially give insight into what factors influence bench placement and where benches could be placed to lessen the distance between bus stops with benches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While the previously mentioned chi-squared test showed that type was significant in determining infrastructure, we don’t know the size of that influence which a regression would express.</a:t>
            </a:r>
            <a:endParaRPr>
              <a:solidFill>
                <a:schemeClr val="dk1"/>
              </a:solidFill>
            </a:endParaRPr>
          </a:p>
        </p:txBody>
      </p:sp>
      <p:sp>
        <p:nvSpPr>
          <p:cNvPr id="176" name="Google Shape;176;g3e265a3a808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265a3a80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endParaRPr>
          </a:p>
        </p:txBody>
      </p:sp>
      <p:sp>
        <p:nvSpPr>
          <p:cNvPr id="188" name="Google Shape;188;g3e265a3a808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265a3a80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endParaRPr>
          </a:p>
        </p:txBody>
      </p:sp>
      <p:sp>
        <p:nvSpPr>
          <p:cNvPr id="197" name="Google Shape;197;g3e265a3a808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FA9AE"/>
        </a:solidFill>
      </p:bgPr>
    </p:bg>
    <p:spTree>
      <p:nvGrpSpPr>
        <p:cNvPr id="53" name="Shape 53"/>
        <p:cNvGrpSpPr/>
        <p:nvPr/>
      </p:nvGrpSpPr>
      <p:grpSpPr>
        <a:xfrm>
          <a:off x="0" y="0"/>
          <a:ext cx="0" cy="0"/>
          <a:chOff x="0" y="0"/>
          <a:chExt cx="0" cy="0"/>
        </a:xfrm>
      </p:grpSpPr>
      <p:grpSp>
        <p:nvGrpSpPr>
          <p:cNvPr id="54" name="Google Shape;54;p13"/>
          <p:cNvGrpSpPr/>
          <p:nvPr/>
        </p:nvGrpSpPr>
        <p:grpSpPr>
          <a:xfrm>
            <a:off x="-110165" y="959264"/>
            <a:ext cx="9426602" cy="2752036"/>
            <a:chOff x="0" y="-28575"/>
            <a:chExt cx="4965551" cy="1449661"/>
          </a:xfrm>
        </p:grpSpPr>
        <p:sp>
          <p:nvSpPr>
            <p:cNvPr id="55" name="Google Shape;55;p13"/>
            <p:cNvSpPr/>
            <p:nvPr/>
          </p:nvSpPr>
          <p:spPr>
            <a:xfrm>
              <a:off x="0" y="0"/>
              <a:ext cx="4965551" cy="1421086"/>
            </a:xfrm>
            <a:custGeom>
              <a:rect b="b" l="l" r="r" t="t"/>
              <a:pathLst>
                <a:path extrusionOk="0" h="1421086" w="4965551">
                  <a:moveTo>
                    <a:pt x="6160" y="0"/>
                  </a:moveTo>
                  <a:lnTo>
                    <a:pt x="4959392" y="0"/>
                  </a:lnTo>
                  <a:cubicBezTo>
                    <a:pt x="4962794" y="0"/>
                    <a:pt x="4965551" y="2758"/>
                    <a:pt x="4965551" y="6160"/>
                  </a:cubicBezTo>
                  <a:lnTo>
                    <a:pt x="4965551" y="1414927"/>
                  </a:lnTo>
                  <a:cubicBezTo>
                    <a:pt x="4965551" y="1418328"/>
                    <a:pt x="4962794" y="1421086"/>
                    <a:pt x="4959392" y="1421086"/>
                  </a:cubicBezTo>
                  <a:lnTo>
                    <a:pt x="6160" y="1421086"/>
                  </a:lnTo>
                  <a:cubicBezTo>
                    <a:pt x="2758" y="1421086"/>
                    <a:pt x="0" y="1418328"/>
                    <a:pt x="0" y="1414927"/>
                  </a:cubicBezTo>
                  <a:lnTo>
                    <a:pt x="0" y="6160"/>
                  </a:lnTo>
                  <a:cubicBezTo>
                    <a:pt x="0" y="2758"/>
                    <a:pt x="2758" y="0"/>
                    <a:pt x="6160" y="0"/>
                  </a:cubicBezTo>
                  <a:close/>
                </a:path>
              </a:pathLst>
            </a:custGeom>
            <a:solidFill>
              <a:srgbClr val="05667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 name="Google Shape;56;p13"/>
            <p:cNvSpPr txBox="1"/>
            <p:nvPr/>
          </p:nvSpPr>
          <p:spPr>
            <a:xfrm>
              <a:off x="0" y="-28575"/>
              <a:ext cx="4965551" cy="1449661"/>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7" name="Google Shape;57;p13"/>
          <p:cNvSpPr/>
          <p:nvPr/>
        </p:nvSpPr>
        <p:spPr>
          <a:xfrm>
            <a:off x="-1592377" y="3221679"/>
            <a:ext cx="3726417" cy="1921829"/>
          </a:xfrm>
          <a:custGeom>
            <a:rect b="b" l="l" r="r" t="t"/>
            <a:pathLst>
              <a:path extrusionOk="0" h="2495882" w="5891568">
                <a:moveTo>
                  <a:pt x="0" y="0"/>
                </a:moveTo>
                <a:lnTo>
                  <a:pt x="5891568" y="0"/>
                </a:lnTo>
                <a:lnTo>
                  <a:pt x="5891568" y="2495883"/>
                </a:lnTo>
                <a:lnTo>
                  <a:pt x="0" y="2495883"/>
                </a:lnTo>
                <a:lnTo>
                  <a:pt x="0" y="0"/>
                </a:lnTo>
                <a:close/>
              </a:path>
            </a:pathLst>
          </a:custGeom>
          <a:blipFill rotWithShape="1">
            <a:blip r:embed="rId3">
              <a:alphaModFix/>
            </a:blip>
            <a:stretch>
              <a:fillRect b="0" l="0" r="0" t="0"/>
            </a:stretch>
          </a:blipFill>
          <a:ln>
            <a:noFill/>
          </a:ln>
        </p:spPr>
      </p:sp>
      <p:sp>
        <p:nvSpPr>
          <p:cNvPr id="58" name="Google Shape;58;p13"/>
          <p:cNvSpPr txBox="1"/>
          <p:nvPr/>
        </p:nvSpPr>
        <p:spPr>
          <a:xfrm>
            <a:off x="514300" y="1575917"/>
            <a:ext cx="8115300" cy="1576500"/>
          </a:xfrm>
          <a:prstGeom prst="rect">
            <a:avLst/>
          </a:prstGeom>
          <a:noFill/>
          <a:ln>
            <a:noFill/>
          </a:ln>
        </p:spPr>
        <p:txBody>
          <a:bodyPr anchorCtr="0" anchor="t" bIns="0" lIns="0" spcFirstLastPara="1" rIns="0" wrap="square" tIns="0">
            <a:spAutoFit/>
          </a:bodyPr>
          <a:lstStyle/>
          <a:p>
            <a:pPr indent="0" lvl="0" marL="0" marR="0" rtl="0" algn="ctr">
              <a:lnSpc>
                <a:spcPct val="109002"/>
              </a:lnSpc>
              <a:spcBef>
                <a:spcPts val="0"/>
              </a:spcBef>
              <a:spcAft>
                <a:spcPts val="0"/>
              </a:spcAft>
              <a:buNone/>
            </a:pPr>
            <a:r>
              <a:rPr lang="en" sz="4900">
                <a:solidFill>
                  <a:srgbClr val="FFFFFF"/>
                </a:solidFill>
                <a:latin typeface="Alfa Slab One"/>
                <a:ea typeface="Alfa Slab One"/>
                <a:cs typeface="Alfa Slab One"/>
                <a:sym typeface="Alfa Slab One"/>
              </a:rPr>
              <a:t>Bus Stops in Montgomery County</a:t>
            </a:r>
            <a:endParaRPr sz="100"/>
          </a:p>
        </p:txBody>
      </p:sp>
      <p:sp>
        <p:nvSpPr>
          <p:cNvPr id="59" name="Google Shape;59;p13"/>
          <p:cNvSpPr txBox="1"/>
          <p:nvPr/>
        </p:nvSpPr>
        <p:spPr>
          <a:xfrm>
            <a:off x="3535564" y="3744616"/>
            <a:ext cx="2135100" cy="3231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lang="en" sz="2100">
                <a:solidFill>
                  <a:srgbClr val="1A3A3F"/>
                </a:solidFill>
                <a:latin typeface="Montserrat"/>
                <a:ea typeface="Montserrat"/>
                <a:cs typeface="Montserrat"/>
                <a:sym typeface="Montserrat"/>
              </a:rPr>
              <a:t>Grace Sampson</a:t>
            </a:r>
            <a:endParaRPr sz="700">
              <a:solidFill>
                <a:srgbClr val="1A3A3F"/>
              </a:solidFill>
              <a:latin typeface="Montserrat"/>
              <a:ea typeface="Montserrat"/>
              <a:cs typeface="Montserrat"/>
              <a:sym typeface="Montserrat"/>
            </a:endParaRPr>
          </a:p>
        </p:txBody>
      </p:sp>
      <p:pic>
        <p:nvPicPr>
          <p:cNvPr id="60" name="Google Shape;60;p13" title="—Pngtree—bus stop sign_8542977.png"/>
          <p:cNvPicPr preferRelativeResize="0"/>
          <p:nvPr/>
        </p:nvPicPr>
        <p:blipFill rotWithShape="1">
          <a:blip r:embed="rId4">
            <a:alphaModFix/>
          </a:blip>
          <a:srcRect b="9723" l="31412" r="28280" t="0"/>
          <a:stretch/>
        </p:blipFill>
        <p:spPr>
          <a:xfrm>
            <a:off x="7988750" y="2668825"/>
            <a:ext cx="1104924" cy="24746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64" name="Shape 64"/>
        <p:cNvGrpSpPr/>
        <p:nvPr/>
      </p:nvGrpSpPr>
      <p:grpSpPr>
        <a:xfrm>
          <a:off x="0" y="0"/>
          <a:ext cx="0" cy="0"/>
          <a:chOff x="0" y="0"/>
          <a:chExt cx="0" cy="0"/>
        </a:xfrm>
      </p:grpSpPr>
      <p:grpSp>
        <p:nvGrpSpPr>
          <p:cNvPr id="65" name="Google Shape;65;p14"/>
          <p:cNvGrpSpPr/>
          <p:nvPr/>
        </p:nvGrpSpPr>
        <p:grpSpPr>
          <a:xfrm>
            <a:off x="647350" y="1502924"/>
            <a:ext cx="3663892" cy="3126256"/>
            <a:chOff x="0" y="-28575"/>
            <a:chExt cx="2021904" cy="1194276"/>
          </a:xfrm>
        </p:grpSpPr>
        <p:sp>
          <p:nvSpPr>
            <p:cNvPr id="66" name="Google Shape;66;p14"/>
            <p:cNvSpPr/>
            <p:nvPr/>
          </p:nvSpPr>
          <p:spPr>
            <a:xfrm>
              <a:off x="0" y="0"/>
              <a:ext cx="2021904" cy="1165701"/>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7" name="Google Shape;67;p14"/>
            <p:cNvSpPr txBox="1"/>
            <p:nvPr/>
          </p:nvSpPr>
          <p:spPr>
            <a:xfrm>
              <a:off x="0" y="-28575"/>
              <a:ext cx="2021904" cy="119427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68" name="Google Shape;68;p14"/>
          <p:cNvGrpSpPr/>
          <p:nvPr/>
        </p:nvGrpSpPr>
        <p:grpSpPr>
          <a:xfrm>
            <a:off x="-141394" y="-169328"/>
            <a:ext cx="9426789" cy="1517952"/>
            <a:chOff x="0" y="-28575"/>
            <a:chExt cx="4965551" cy="799580"/>
          </a:xfrm>
        </p:grpSpPr>
        <p:sp>
          <p:nvSpPr>
            <p:cNvPr id="69" name="Google Shape;69;p14"/>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0" name="Google Shape;70;p14"/>
            <p:cNvSpPr txBox="1"/>
            <p:nvPr/>
          </p:nvSpPr>
          <p:spPr>
            <a:xfrm>
              <a:off x="0" y="-28575"/>
              <a:ext cx="4965551" cy="79958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71" name="Google Shape;71;p14"/>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Datasets</a:t>
            </a:r>
            <a:endParaRPr sz="700"/>
          </a:p>
        </p:txBody>
      </p:sp>
      <p:sp>
        <p:nvSpPr>
          <p:cNvPr id="72" name="Google Shape;72;p14"/>
          <p:cNvSpPr txBox="1"/>
          <p:nvPr/>
        </p:nvSpPr>
        <p:spPr>
          <a:xfrm>
            <a:off x="673000" y="1654575"/>
            <a:ext cx="3612600" cy="284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rPr>
              <a:t>Bus Stops:</a:t>
            </a:r>
            <a:endParaRPr sz="1800">
              <a:solidFill>
                <a:schemeClr val="dk2"/>
              </a:solidFill>
            </a:endParaRPr>
          </a:p>
          <a:p>
            <a:pPr indent="-342900" lvl="0" marL="457200" rtl="0" algn="l">
              <a:lnSpc>
                <a:spcPct val="115000"/>
              </a:lnSpc>
              <a:spcBef>
                <a:spcPts val="1200"/>
              </a:spcBef>
              <a:spcAft>
                <a:spcPts val="0"/>
              </a:spcAft>
              <a:buClr>
                <a:schemeClr val="dk2"/>
              </a:buClr>
              <a:buSzPts val="1800"/>
              <a:buChar char="-"/>
            </a:pPr>
            <a:r>
              <a:rPr lang="en" sz="1800">
                <a:solidFill>
                  <a:schemeClr val="dk2"/>
                </a:solidFill>
              </a:rPr>
              <a:t>data Montgomery</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Ride On and WMATA bus stops maintained by Montgomery County and municipalities</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Total Benches, Shelters, and Trash Cans</a:t>
            </a:r>
            <a:endParaRPr/>
          </a:p>
        </p:txBody>
      </p:sp>
      <p:grpSp>
        <p:nvGrpSpPr>
          <p:cNvPr id="73" name="Google Shape;73;p14"/>
          <p:cNvGrpSpPr/>
          <p:nvPr/>
        </p:nvGrpSpPr>
        <p:grpSpPr>
          <a:xfrm>
            <a:off x="4851575" y="1514522"/>
            <a:ext cx="3664066" cy="3126200"/>
            <a:chOff x="0" y="-28575"/>
            <a:chExt cx="2022000" cy="1194300"/>
          </a:xfrm>
        </p:grpSpPr>
        <p:sp>
          <p:nvSpPr>
            <p:cNvPr id="74" name="Google Shape;74;p14"/>
            <p:cNvSpPr/>
            <p:nvPr/>
          </p:nvSpPr>
          <p:spPr>
            <a:xfrm>
              <a:off x="0" y="0"/>
              <a:ext cx="2021904" cy="1165701"/>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5" name="Google Shape;75;p14"/>
            <p:cNvSpPr txBox="1"/>
            <p:nvPr/>
          </p:nvSpPr>
          <p:spPr>
            <a:xfrm>
              <a:off x="0" y="-28575"/>
              <a:ext cx="2022000" cy="1194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76" name="Google Shape;76;p14"/>
          <p:cNvSpPr txBox="1"/>
          <p:nvPr/>
        </p:nvSpPr>
        <p:spPr>
          <a:xfrm>
            <a:off x="4918263" y="1654575"/>
            <a:ext cx="3530700" cy="252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rPr>
              <a:t>Maryland Local Transit - Montgomery County Ride On Stops:</a:t>
            </a:r>
            <a:endParaRPr sz="1800">
              <a:solidFill>
                <a:schemeClr val="dk2"/>
              </a:solidFill>
            </a:endParaRPr>
          </a:p>
          <a:p>
            <a:pPr indent="-342900" lvl="0" marL="457200" rtl="0" algn="l">
              <a:lnSpc>
                <a:spcPct val="115000"/>
              </a:lnSpc>
              <a:spcBef>
                <a:spcPts val="1200"/>
              </a:spcBef>
              <a:spcAft>
                <a:spcPts val="0"/>
              </a:spcAft>
              <a:buClr>
                <a:schemeClr val="dk2"/>
              </a:buClr>
              <a:buSzPts val="1800"/>
              <a:buChar char="-"/>
            </a:pPr>
            <a:r>
              <a:rPr lang="en" sz="1800">
                <a:solidFill>
                  <a:schemeClr val="dk2"/>
                </a:solidFill>
              </a:rPr>
              <a:t>Maryland.gov</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RideOn stops in Montgomery County</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Stop Code, Town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80" name="Shape 80"/>
        <p:cNvGrpSpPr/>
        <p:nvPr/>
      </p:nvGrpSpPr>
      <p:grpSpPr>
        <a:xfrm>
          <a:off x="0" y="0"/>
          <a:ext cx="0" cy="0"/>
          <a:chOff x="0" y="0"/>
          <a:chExt cx="0" cy="0"/>
        </a:xfrm>
      </p:grpSpPr>
      <p:grpSp>
        <p:nvGrpSpPr>
          <p:cNvPr id="81" name="Google Shape;81;p15"/>
          <p:cNvGrpSpPr/>
          <p:nvPr/>
        </p:nvGrpSpPr>
        <p:grpSpPr>
          <a:xfrm>
            <a:off x="-141344" y="-82252"/>
            <a:ext cx="9426695" cy="1517923"/>
            <a:chOff x="0" y="-28575"/>
            <a:chExt cx="4965600" cy="799580"/>
          </a:xfrm>
        </p:grpSpPr>
        <p:sp>
          <p:nvSpPr>
            <p:cNvPr id="82" name="Google Shape;82;p15"/>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3" name="Google Shape;83;p15"/>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84" name="Google Shape;84;p15"/>
          <p:cNvSpPr txBox="1"/>
          <p:nvPr/>
        </p:nvSpPr>
        <p:spPr>
          <a:xfrm>
            <a:off x="1176106" y="506882"/>
            <a:ext cx="6693300" cy="7542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lang="en" sz="4900">
                <a:solidFill>
                  <a:srgbClr val="FFFFFF"/>
                </a:solidFill>
                <a:latin typeface="Alfa Slab One"/>
                <a:ea typeface="Alfa Slab One"/>
                <a:cs typeface="Alfa Slab One"/>
                <a:sym typeface="Alfa Slab One"/>
              </a:rPr>
              <a:t>Goals</a:t>
            </a:r>
            <a:endParaRPr sz="700"/>
          </a:p>
        </p:txBody>
      </p:sp>
      <p:grpSp>
        <p:nvGrpSpPr>
          <p:cNvPr id="85" name="Google Shape;85;p15"/>
          <p:cNvGrpSpPr/>
          <p:nvPr/>
        </p:nvGrpSpPr>
        <p:grpSpPr>
          <a:xfrm>
            <a:off x="1225200" y="1824375"/>
            <a:ext cx="6693459" cy="1053887"/>
            <a:chOff x="0" y="-28575"/>
            <a:chExt cx="3967905" cy="433199"/>
          </a:xfrm>
        </p:grpSpPr>
        <p:sp>
          <p:nvSpPr>
            <p:cNvPr id="86" name="Google Shape;86;p15"/>
            <p:cNvSpPr/>
            <p:nvPr/>
          </p:nvSpPr>
          <p:spPr>
            <a:xfrm>
              <a:off x="0" y="0"/>
              <a:ext cx="3967905" cy="404624"/>
            </a:xfrm>
            <a:custGeom>
              <a:rect b="b" l="l" r="r" t="t"/>
              <a:pathLst>
                <a:path extrusionOk="0" h="404624" w="3967905">
                  <a:moveTo>
                    <a:pt x="8675" y="0"/>
                  </a:moveTo>
                  <a:lnTo>
                    <a:pt x="3959230" y="0"/>
                  </a:lnTo>
                  <a:cubicBezTo>
                    <a:pt x="3961531" y="0"/>
                    <a:pt x="3963738" y="914"/>
                    <a:pt x="3965364" y="2541"/>
                  </a:cubicBezTo>
                  <a:cubicBezTo>
                    <a:pt x="3966991" y="4168"/>
                    <a:pt x="3967905" y="6374"/>
                    <a:pt x="3967905" y="8675"/>
                  </a:cubicBezTo>
                  <a:lnTo>
                    <a:pt x="3967905" y="395949"/>
                  </a:lnTo>
                  <a:cubicBezTo>
                    <a:pt x="3967905" y="398249"/>
                    <a:pt x="3966991" y="400456"/>
                    <a:pt x="3965364" y="402083"/>
                  </a:cubicBezTo>
                  <a:cubicBezTo>
                    <a:pt x="3963738" y="403710"/>
                    <a:pt x="3961531" y="404624"/>
                    <a:pt x="3959230" y="404624"/>
                  </a:cubicBezTo>
                  <a:lnTo>
                    <a:pt x="8675" y="404624"/>
                  </a:lnTo>
                  <a:cubicBezTo>
                    <a:pt x="6374" y="404624"/>
                    <a:pt x="4168" y="403710"/>
                    <a:pt x="2541" y="402083"/>
                  </a:cubicBezTo>
                  <a:cubicBezTo>
                    <a:pt x="914" y="400456"/>
                    <a:pt x="0" y="398249"/>
                    <a:pt x="0" y="395949"/>
                  </a:cubicBezTo>
                  <a:lnTo>
                    <a:pt x="0" y="8675"/>
                  </a:lnTo>
                  <a:cubicBezTo>
                    <a:pt x="0" y="6374"/>
                    <a:pt x="914" y="4168"/>
                    <a:pt x="2541" y="2541"/>
                  </a:cubicBezTo>
                  <a:cubicBezTo>
                    <a:pt x="4168" y="914"/>
                    <a:pt x="6374" y="0"/>
                    <a:pt x="8675"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7" name="Google Shape;87;p15"/>
            <p:cNvSpPr txBox="1"/>
            <p:nvPr/>
          </p:nvSpPr>
          <p:spPr>
            <a:xfrm>
              <a:off x="0" y="-28575"/>
              <a:ext cx="3967905" cy="433199"/>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88" name="Google Shape;88;p15"/>
          <p:cNvSpPr txBox="1"/>
          <p:nvPr/>
        </p:nvSpPr>
        <p:spPr>
          <a:xfrm>
            <a:off x="1225188" y="1914725"/>
            <a:ext cx="6693600" cy="849600"/>
          </a:xfrm>
          <a:prstGeom prst="rect">
            <a:avLst/>
          </a:prstGeom>
          <a:noFill/>
          <a:ln>
            <a:noFill/>
          </a:ln>
        </p:spPr>
        <p:txBody>
          <a:bodyPr anchorCtr="0" anchor="t" bIns="0" lIns="0" spcFirstLastPara="1" rIns="0" wrap="square" tIns="0">
            <a:spAutoFit/>
          </a:bodyPr>
          <a:lstStyle/>
          <a:p>
            <a:pPr indent="-374650" lvl="0" marL="457200" marR="0" rtl="0" algn="l">
              <a:lnSpc>
                <a:spcPct val="140006"/>
              </a:lnSpc>
              <a:spcBef>
                <a:spcPts val="0"/>
              </a:spcBef>
              <a:spcAft>
                <a:spcPts val="0"/>
              </a:spcAft>
              <a:buSzPts val="2300"/>
              <a:buFont typeface="Montserrat"/>
              <a:buChar char="●"/>
            </a:pPr>
            <a:r>
              <a:rPr lang="en" sz="2300">
                <a:latin typeface="Montserrat"/>
                <a:ea typeface="Montserrat"/>
                <a:cs typeface="Montserrat"/>
                <a:sym typeface="Montserrat"/>
              </a:rPr>
              <a:t>Identify </a:t>
            </a:r>
            <a:r>
              <a:rPr lang="en" sz="2300">
                <a:latin typeface="Montserrat"/>
                <a:ea typeface="Montserrat"/>
                <a:cs typeface="Montserrat"/>
                <a:sym typeface="Montserrat"/>
              </a:rPr>
              <a:t>reasons</a:t>
            </a:r>
            <a:r>
              <a:rPr lang="en" sz="2300">
                <a:latin typeface="Montserrat"/>
                <a:ea typeface="Montserrat"/>
                <a:cs typeface="Montserrat"/>
                <a:sym typeface="Montserrat"/>
              </a:rPr>
              <a:t> why bus stops lack </a:t>
            </a:r>
            <a:r>
              <a:rPr lang="en" sz="2300">
                <a:latin typeface="Montserrat"/>
                <a:ea typeface="Montserrat"/>
                <a:cs typeface="Montserrat"/>
                <a:sym typeface="Montserrat"/>
              </a:rPr>
              <a:t>infrastructure</a:t>
            </a:r>
            <a:r>
              <a:rPr lang="en" sz="2300">
                <a:latin typeface="Montserrat"/>
                <a:ea typeface="Montserrat"/>
                <a:cs typeface="Montserrat"/>
                <a:sym typeface="Montserrat"/>
              </a:rPr>
              <a:t> in Montgomery County</a:t>
            </a:r>
            <a:endParaRPr>
              <a:latin typeface="Montserrat"/>
              <a:ea typeface="Montserrat"/>
              <a:cs typeface="Montserrat"/>
              <a:sym typeface="Montserrat"/>
            </a:endParaRPr>
          </a:p>
        </p:txBody>
      </p:sp>
      <p:grpSp>
        <p:nvGrpSpPr>
          <p:cNvPr id="89" name="Google Shape;89;p15"/>
          <p:cNvGrpSpPr/>
          <p:nvPr/>
        </p:nvGrpSpPr>
        <p:grpSpPr>
          <a:xfrm>
            <a:off x="1225200" y="3176599"/>
            <a:ext cx="6693459" cy="567145"/>
            <a:chOff x="0" y="-28575"/>
            <a:chExt cx="3967905" cy="433200"/>
          </a:xfrm>
        </p:grpSpPr>
        <p:sp>
          <p:nvSpPr>
            <p:cNvPr id="90" name="Google Shape;90;p15"/>
            <p:cNvSpPr/>
            <p:nvPr/>
          </p:nvSpPr>
          <p:spPr>
            <a:xfrm>
              <a:off x="0" y="0"/>
              <a:ext cx="3967905" cy="404624"/>
            </a:xfrm>
            <a:custGeom>
              <a:rect b="b" l="l" r="r" t="t"/>
              <a:pathLst>
                <a:path extrusionOk="0" h="404624" w="3967905">
                  <a:moveTo>
                    <a:pt x="8675" y="0"/>
                  </a:moveTo>
                  <a:lnTo>
                    <a:pt x="3959230" y="0"/>
                  </a:lnTo>
                  <a:cubicBezTo>
                    <a:pt x="3961531" y="0"/>
                    <a:pt x="3963738" y="914"/>
                    <a:pt x="3965364" y="2541"/>
                  </a:cubicBezTo>
                  <a:cubicBezTo>
                    <a:pt x="3966991" y="4168"/>
                    <a:pt x="3967905" y="6374"/>
                    <a:pt x="3967905" y="8675"/>
                  </a:cubicBezTo>
                  <a:lnTo>
                    <a:pt x="3967905" y="395949"/>
                  </a:lnTo>
                  <a:cubicBezTo>
                    <a:pt x="3967905" y="398249"/>
                    <a:pt x="3966991" y="400456"/>
                    <a:pt x="3965364" y="402083"/>
                  </a:cubicBezTo>
                  <a:cubicBezTo>
                    <a:pt x="3963738" y="403710"/>
                    <a:pt x="3961531" y="404624"/>
                    <a:pt x="3959230" y="404624"/>
                  </a:cubicBezTo>
                  <a:lnTo>
                    <a:pt x="8675" y="404624"/>
                  </a:lnTo>
                  <a:cubicBezTo>
                    <a:pt x="6374" y="404624"/>
                    <a:pt x="4168" y="403710"/>
                    <a:pt x="2541" y="402083"/>
                  </a:cubicBezTo>
                  <a:cubicBezTo>
                    <a:pt x="914" y="400456"/>
                    <a:pt x="0" y="398249"/>
                    <a:pt x="0" y="395949"/>
                  </a:cubicBezTo>
                  <a:lnTo>
                    <a:pt x="0" y="8675"/>
                  </a:lnTo>
                  <a:cubicBezTo>
                    <a:pt x="0" y="6374"/>
                    <a:pt x="914" y="4168"/>
                    <a:pt x="2541" y="2541"/>
                  </a:cubicBezTo>
                  <a:cubicBezTo>
                    <a:pt x="4168" y="914"/>
                    <a:pt x="6374" y="0"/>
                    <a:pt x="8675"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1" name="Google Shape;91;p15"/>
            <p:cNvSpPr txBox="1"/>
            <p:nvPr/>
          </p:nvSpPr>
          <p:spPr>
            <a:xfrm>
              <a:off x="0" y="-28575"/>
              <a:ext cx="3967800" cy="433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92" name="Google Shape;92;p15"/>
          <p:cNvSpPr txBox="1"/>
          <p:nvPr/>
        </p:nvSpPr>
        <p:spPr>
          <a:xfrm>
            <a:off x="1225188" y="3266950"/>
            <a:ext cx="6693600" cy="354000"/>
          </a:xfrm>
          <a:prstGeom prst="rect">
            <a:avLst/>
          </a:prstGeom>
          <a:noFill/>
          <a:ln>
            <a:noFill/>
          </a:ln>
        </p:spPr>
        <p:txBody>
          <a:bodyPr anchorCtr="0" anchor="t" bIns="0" lIns="0" spcFirstLastPara="1" rIns="0" wrap="square" tIns="0">
            <a:spAutoFit/>
          </a:bodyPr>
          <a:lstStyle/>
          <a:p>
            <a:pPr indent="-374650" lvl="0" marL="457200" marR="0" rtl="0" algn="l">
              <a:lnSpc>
                <a:spcPct val="140006"/>
              </a:lnSpc>
              <a:spcBef>
                <a:spcPts val="0"/>
              </a:spcBef>
              <a:spcAft>
                <a:spcPts val="0"/>
              </a:spcAft>
              <a:buSzPts val="2300"/>
              <a:buFont typeface="Montserrat"/>
              <a:buChar char="●"/>
            </a:pPr>
            <a:r>
              <a:rPr lang="en" sz="2300">
                <a:latin typeface="Montserrat"/>
                <a:ea typeface="Montserrat"/>
                <a:cs typeface="Montserrat"/>
                <a:sym typeface="Montserrat"/>
              </a:rPr>
              <a:t>Suggest paths for improvement</a:t>
            </a:r>
            <a:endParaRPr>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96" name="Shape 96"/>
        <p:cNvGrpSpPr/>
        <p:nvPr/>
      </p:nvGrpSpPr>
      <p:grpSpPr>
        <a:xfrm>
          <a:off x="0" y="0"/>
          <a:ext cx="0" cy="0"/>
          <a:chOff x="0" y="0"/>
          <a:chExt cx="0" cy="0"/>
        </a:xfrm>
      </p:grpSpPr>
      <p:grpSp>
        <p:nvGrpSpPr>
          <p:cNvPr id="97" name="Google Shape;97;p16"/>
          <p:cNvGrpSpPr/>
          <p:nvPr/>
        </p:nvGrpSpPr>
        <p:grpSpPr>
          <a:xfrm>
            <a:off x="4763962" y="2018757"/>
            <a:ext cx="3663892" cy="2266682"/>
            <a:chOff x="0" y="-28575"/>
            <a:chExt cx="2021904" cy="1250859"/>
          </a:xfrm>
        </p:grpSpPr>
        <p:sp>
          <p:nvSpPr>
            <p:cNvPr id="98" name="Google Shape;98;p16"/>
            <p:cNvSpPr/>
            <p:nvPr/>
          </p:nvSpPr>
          <p:spPr>
            <a:xfrm>
              <a:off x="0" y="0"/>
              <a:ext cx="2021904" cy="1222284"/>
            </a:xfrm>
            <a:custGeom>
              <a:rect b="b" l="l" r="r" t="t"/>
              <a:pathLst>
                <a:path extrusionOk="0" h="1222284" w="2021904">
                  <a:moveTo>
                    <a:pt x="15848" y="0"/>
                  </a:moveTo>
                  <a:lnTo>
                    <a:pt x="2006057" y="0"/>
                  </a:lnTo>
                  <a:cubicBezTo>
                    <a:pt x="2010260" y="0"/>
                    <a:pt x="2014291" y="1670"/>
                    <a:pt x="2017263" y="4642"/>
                  </a:cubicBezTo>
                  <a:cubicBezTo>
                    <a:pt x="2020235" y="7614"/>
                    <a:pt x="2021904" y="11645"/>
                    <a:pt x="2021904" y="15848"/>
                  </a:cubicBezTo>
                  <a:lnTo>
                    <a:pt x="2021904" y="1206436"/>
                  </a:lnTo>
                  <a:cubicBezTo>
                    <a:pt x="2021904" y="1215188"/>
                    <a:pt x="2014809" y="1222284"/>
                    <a:pt x="2006057" y="1222284"/>
                  </a:cubicBezTo>
                  <a:lnTo>
                    <a:pt x="15848" y="1222284"/>
                  </a:lnTo>
                  <a:cubicBezTo>
                    <a:pt x="7095" y="1222284"/>
                    <a:pt x="0" y="1215188"/>
                    <a:pt x="0" y="1206436"/>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9" name="Google Shape;99;p16"/>
            <p:cNvSpPr txBox="1"/>
            <p:nvPr/>
          </p:nvSpPr>
          <p:spPr>
            <a:xfrm>
              <a:off x="0" y="-28575"/>
              <a:ext cx="2021904" cy="1250859"/>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00" name="Google Shape;100;p16"/>
          <p:cNvGrpSpPr/>
          <p:nvPr/>
        </p:nvGrpSpPr>
        <p:grpSpPr>
          <a:xfrm>
            <a:off x="-141394" y="-169328"/>
            <a:ext cx="9426789" cy="1517952"/>
            <a:chOff x="0" y="-28575"/>
            <a:chExt cx="4965551" cy="799580"/>
          </a:xfrm>
        </p:grpSpPr>
        <p:sp>
          <p:nvSpPr>
            <p:cNvPr id="101" name="Google Shape;101;p16"/>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2" name="Google Shape;102;p16"/>
            <p:cNvSpPr txBox="1"/>
            <p:nvPr/>
          </p:nvSpPr>
          <p:spPr>
            <a:xfrm>
              <a:off x="0" y="-28575"/>
              <a:ext cx="4965551" cy="79958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3" name="Google Shape;103;p16"/>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Tools + Cleaning</a:t>
            </a:r>
            <a:endParaRPr sz="700"/>
          </a:p>
        </p:txBody>
      </p:sp>
      <p:sp>
        <p:nvSpPr>
          <p:cNvPr id="104" name="Google Shape;104;p16"/>
          <p:cNvSpPr txBox="1"/>
          <p:nvPr/>
        </p:nvSpPr>
        <p:spPr>
          <a:xfrm>
            <a:off x="4972152" y="2222388"/>
            <a:ext cx="3247500" cy="1727100"/>
          </a:xfrm>
          <a:prstGeom prst="rect">
            <a:avLst/>
          </a:prstGeom>
          <a:noFill/>
          <a:ln>
            <a:noFill/>
          </a:ln>
        </p:spPr>
        <p:txBody>
          <a:bodyPr anchorCtr="0" anchor="t" bIns="0" lIns="0" spcFirstLastPara="1" rIns="0" wrap="square" tIns="0">
            <a:spAutoFit/>
          </a:bodyPr>
          <a:lstStyle/>
          <a:p>
            <a:pPr indent="-184150" lvl="1" marL="368300" marR="0" rtl="0" algn="l">
              <a:lnSpc>
                <a:spcPct val="140005"/>
              </a:lnSpc>
              <a:spcBef>
                <a:spcPts val="0"/>
              </a:spcBef>
              <a:spcAft>
                <a:spcPts val="0"/>
              </a:spcAft>
              <a:buClr>
                <a:srgbClr val="000000"/>
              </a:buClr>
              <a:buSzPts val="1700"/>
              <a:buFont typeface="Arial"/>
              <a:buChar char="•"/>
            </a:pPr>
            <a:r>
              <a:rPr lang="en" sz="1700"/>
              <a:t>Standardizing variable names</a:t>
            </a:r>
            <a:endParaRPr sz="1700"/>
          </a:p>
          <a:p>
            <a:pPr indent="-184150" lvl="1" marL="368300" marR="0" rtl="0" algn="l">
              <a:lnSpc>
                <a:spcPct val="140005"/>
              </a:lnSpc>
              <a:spcBef>
                <a:spcPts val="0"/>
              </a:spcBef>
              <a:spcAft>
                <a:spcPts val="0"/>
              </a:spcAft>
              <a:buSzPts val="1700"/>
              <a:buChar char="•"/>
            </a:pPr>
            <a:r>
              <a:rPr lang="en" sz="1700"/>
              <a:t>Removing commas from numeric entries</a:t>
            </a:r>
            <a:endParaRPr sz="1700"/>
          </a:p>
          <a:p>
            <a:pPr indent="-184150" lvl="1" marL="368300" marR="0" rtl="0" algn="l">
              <a:lnSpc>
                <a:spcPct val="140005"/>
              </a:lnSpc>
              <a:spcBef>
                <a:spcPts val="0"/>
              </a:spcBef>
              <a:spcAft>
                <a:spcPts val="0"/>
              </a:spcAft>
              <a:buSzPts val="1700"/>
              <a:buChar char="•"/>
            </a:pPr>
            <a:r>
              <a:rPr lang="en" sz="1700"/>
              <a:t>Creating new variable ‘Type’ </a:t>
            </a:r>
            <a:endParaRPr sz="1700"/>
          </a:p>
          <a:p>
            <a:pPr indent="-184150" lvl="1" marL="368300" marR="0" rtl="0" algn="l">
              <a:lnSpc>
                <a:spcPct val="140005"/>
              </a:lnSpc>
              <a:spcBef>
                <a:spcPts val="0"/>
              </a:spcBef>
              <a:spcAft>
                <a:spcPts val="0"/>
              </a:spcAft>
              <a:buSzPts val="1700"/>
              <a:buChar char="•"/>
            </a:pPr>
            <a:r>
              <a:rPr lang="en" sz="1700"/>
              <a:t>Joining datasets</a:t>
            </a:r>
            <a:endParaRPr sz="1700"/>
          </a:p>
        </p:txBody>
      </p:sp>
      <p:grpSp>
        <p:nvGrpSpPr>
          <p:cNvPr id="105" name="Google Shape;105;p16"/>
          <p:cNvGrpSpPr/>
          <p:nvPr/>
        </p:nvGrpSpPr>
        <p:grpSpPr>
          <a:xfrm>
            <a:off x="415512" y="2018632"/>
            <a:ext cx="3664066" cy="2266937"/>
            <a:chOff x="0" y="-28575"/>
            <a:chExt cx="2022000" cy="1251000"/>
          </a:xfrm>
        </p:grpSpPr>
        <p:sp>
          <p:nvSpPr>
            <p:cNvPr id="106" name="Google Shape;106;p16"/>
            <p:cNvSpPr/>
            <p:nvPr/>
          </p:nvSpPr>
          <p:spPr>
            <a:xfrm>
              <a:off x="0" y="0"/>
              <a:ext cx="2021904" cy="1222284"/>
            </a:xfrm>
            <a:custGeom>
              <a:rect b="b" l="l" r="r" t="t"/>
              <a:pathLst>
                <a:path extrusionOk="0" h="1222284" w="2021904">
                  <a:moveTo>
                    <a:pt x="15848" y="0"/>
                  </a:moveTo>
                  <a:lnTo>
                    <a:pt x="2006057" y="0"/>
                  </a:lnTo>
                  <a:cubicBezTo>
                    <a:pt x="2010260" y="0"/>
                    <a:pt x="2014291" y="1670"/>
                    <a:pt x="2017263" y="4642"/>
                  </a:cubicBezTo>
                  <a:cubicBezTo>
                    <a:pt x="2020235" y="7614"/>
                    <a:pt x="2021904" y="11645"/>
                    <a:pt x="2021904" y="15848"/>
                  </a:cubicBezTo>
                  <a:lnTo>
                    <a:pt x="2021904" y="1206436"/>
                  </a:lnTo>
                  <a:cubicBezTo>
                    <a:pt x="2021904" y="1215188"/>
                    <a:pt x="2014809" y="1222284"/>
                    <a:pt x="2006057" y="1222284"/>
                  </a:cubicBezTo>
                  <a:lnTo>
                    <a:pt x="15848" y="1222284"/>
                  </a:lnTo>
                  <a:cubicBezTo>
                    <a:pt x="7095" y="1222284"/>
                    <a:pt x="0" y="1215188"/>
                    <a:pt x="0" y="1206436"/>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 name="Google Shape;107;p16"/>
            <p:cNvSpPr txBox="1"/>
            <p:nvPr/>
          </p:nvSpPr>
          <p:spPr>
            <a:xfrm>
              <a:off x="0" y="-28575"/>
              <a:ext cx="2022000" cy="1251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8" name="Google Shape;108;p16"/>
          <p:cNvSpPr txBox="1"/>
          <p:nvPr/>
        </p:nvSpPr>
        <p:spPr>
          <a:xfrm>
            <a:off x="623800" y="2288549"/>
            <a:ext cx="3247500" cy="2093400"/>
          </a:xfrm>
          <a:prstGeom prst="rect">
            <a:avLst/>
          </a:prstGeom>
          <a:noFill/>
          <a:ln>
            <a:noFill/>
          </a:ln>
        </p:spPr>
        <p:txBody>
          <a:bodyPr anchorCtr="0" anchor="t" bIns="0" lIns="0" spcFirstLastPara="1" rIns="0" wrap="square" tIns="0">
            <a:spAutoFit/>
          </a:bodyPr>
          <a:lstStyle/>
          <a:p>
            <a:pPr indent="-336550" lvl="0" marL="457200" marR="0" rtl="0" algn="l">
              <a:lnSpc>
                <a:spcPct val="140005"/>
              </a:lnSpc>
              <a:spcBef>
                <a:spcPts val="0"/>
              </a:spcBef>
              <a:spcAft>
                <a:spcPts val="0"/>
              </a:spcAft>
              <a:buSzPts val="1700"/>
              <a:buChar char="❖"/>
            </a:pPr>
            <a:r>
              <a:rPr lang="en" sz="1700"/>
              <a:t>R Studio</a:t>
            </a:r>
            <a:endParaRPr sz="1700"/>
          </a:p>
          <a:p>
            <a:pPr indent="-336550" lvl="1" marL="914400" marR="0" rtl="0" algn="l">
              <a:lnSpc>
                <a:spcPct val="140005"/>
              </a:lnSpc>
              <a:spcBef>
                <a:spcPts val="0"/>
              </a:spcBef>
              <a:spcAft>
                <a:spcPts val="0"/>
              </a:spcAft>
              <a:buSzPts val="1700"/>
              <a:buChar char="➢"/>
            </a:pPr>
            <a:r>
              <a:rPr lang="en" sz="1700"/>
              <a:t>Tidyverse</a:t>
            </a:r>
            <a:endParaRPr sz="1700"/>
          </a:p>
          <a:p>
            <a:pPr indent="-336550" lvl="1" marL="914400" marR="0" rtl="0" algn="l">
              <a:lnSpc>
                <a:spcPct val="140005"/>
              </a:lnSpc>
              <a:spcBef>
                <a:spcPts val="0"/>
              </a:spcBef>
              <a:spcAft>
                <a:spcPts val="0"/>
              </a:spcAft>
              <a:buSzPts val="1700"/>
              <a:buChar char="➢"/>
            </a:pPr>
            <a:r>
              <a:rPr lang="en" sz="1700"/>
              <a:t>Stringr</a:t>
            </a:r>
            <a:endParaRPr sz="1700"/>
          </a:p>
          <a:p>
            <a:pPr indent="-336550" lvl="1" marL="914400" marR="0" rtl="0" algn="l">
              <a:lnSpc>
                <a:spcPct val="140005"/>
              </a:lnSpc>
              <a:spcBef>
                <a:spcPts val="0"/>
              </a:spcBef>
              <a:spcAft>
                <a:spcPts val="0"/>
              </a:spcAft>
              <a:buSzPts val="1700"/>
              <a:buChar char="➢"/>
            </a:pPr>
            <a:r>
              <a:rPr lang="en" sz="1700"/>
              <a:t>Sf</a:t>
            </a:r>
            <a:endParaRPr sz="1700"/>
          </a:p>
          <a:p>
            <a:pPr indent="-336550" lvl="1" marL="914400" marR="0" rtl="0" algn="l">
              <a:lnSpc>
                <a:spcPct val="140005"/>
              </a:lnSpc>
              <a:spcBef>
                <a:spcPts val="0"/>
              </a:spcBef>
              <a:spcAft>
                <a:spcPts val="0"/>
              </a:spcAft>
              <a:buSzPts val="1700"/>
              <a:buChar char="➢"/>
            </a:pPr>
            <a:r>
              <a:rPr lang="en" sz="1700"/>
              <a:t>Leaflet</a:t>
            </a:r>
            <a:endParaRPr sz="1700"/>
          </a:p>
          <a:p>
            <a:pPr indent="0" lvl="0" marL="0" marR="0" rtl="0" algn="l">
              <a:lnSpc>
                <a:spcPct val="140005"/>
              </a:lnSpc>
              <a:spcBef>
                <a:spcPts val="0"/>
              </a:spcBef>
              <a:spcAft>
                <a:spcPts val="0"/>
              </a:spcAft>
              <a:buNone/>
            </a:pPr>
            <a:r>
              <a:t/>
            </a:r>
            <a:endParaRPr sz="1700"/>
          </a:p>
        </p:txBody>
      </p:sp>
      <p:pic>
        <p:nvPicPr>
          <p:cNvPr id="109" name="Google Shape;109;p16"/>
          <p:cNvPicPr preferRelativeResize="0"/>
          <p:nvPr/>
        </p:nvPicPr>
        <p:blipFill>
          <a:blip r:embed="rId3">
            <a:alphaModFix/>
          </a:blip>
          <a:stretch>
            <a:fillRect/>
          </a:stretch>
        </p:blipFill>
        <p:spPr>
          <a:xfrm>
            <a:off x="3062143" y="2018750"/>
            <a:ext cx="809156" cy="707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13" name="Shape 113"/>
        <p:cNvGrpSpPr/>
        <p:nvPr/>
      </p:nvGrpSpPr>
      <p:grpSpPr>
        <a:xfrm>
          <a:off x="0" y="0"/>
          <a:ext cx="0" cy="0"/>
          <a:chOff x="0" y="0"/>
          <a:chExt cx="0" cy="0"/>
        </a:xfrm>
      </p:grpSpPr>
      <p:sp>
        <p:nvSpPr>
          <p:cNvPr id="114" name="Google Shape;114;p17"/>
          <p:cNvSpPr txBox="1"/>
          <p:nvPr/>
        </p:nvSpPr>
        <p:spPr>
          <a:xfrm>
            <a:off x="365866" y="180825"/>
            <a:ext cx="5941500" cy="5079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lang="en" sz="3300">
                <a:solidFill>
                  <a:srgbClr val="FFFFFF"/>
                </a:solidFill>
                <a:latin typeface="Alfa Slab One"/>
                <a:ea typeface="Alfa Slab One"/>
                <a:cs typeface="Alfa Slab One"/>
                <a:sym typeface="Alfa Slab One"/>
              </a:rPr>
              <a:t>Lay of the Land</a:t>
            </a:r>
            <a:endParaRPr sz="700"/>
          </a:p>
        </p:txBody>
      </p:sp>
      <p:pic>
        <p:nvPicPr>
          <p:cNvPr id="115" name="Google Shape;115;p17"/>
          <p:cNvPicPr preferRelativeResize="0"/>
          <p:nvPr/>
        </p:nvPicPr>
        <p:blipFill>
          <a:blip r:embed="rId3">
            <a:alphaModFix/>
          </a:blip>
          <a:stretch>
            <a:fillRect/>
          </a:stretch>
        </p:blipFill>
        <p:spPr>
          <a:xfrm>
            <a:off x="508200" y="871050"/>
            <a:ext cx="4852500" cy="4001500"/>
          </a:xfrm>
          <a:prstGeom prst="rect">
            <a:avLst/>
          </a:prstGeom>
          <a:noFill/>
          <a:ln>
            <a:noFill/>
          </a:ln>
        </p:spPr>
      </p:pic>
      <p:sp>
        <p:nvSpPr>
          <p:cNvPr id="116" name="Google Shape;116;p17"/>
          <p:cNvSpPr txBox="1"/>
          <p:nvPr/>
        </p:nvSpPr>
        <p:spPr>
          <a:xfrm>
            <a:off x="5737850" y="871100"/>
            <a:ext cx="2846400" cy="40014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chemeClr val="lt1"/>
              </a:buClr>
              <a:buSzPts val="1700"/>
              <a:buChar char="➔"/>
            </a:pPr>
            <a:r>
              <a:rPr lang="en" sz="1700">
                <a:solidFill>
                  <a:schemeClr val="lt1"/>
                </a:solidFill>
              </a:rPr>
              <a:t>Silver Spring has the most bus stops overall, closely followed by Rockville and Bethesda.</a:t>
            </a:r>
            <a:endParaRPr sz="1700">
              <a:solidFill>
                <a:schemeClr val="lt1"/>
              </a:solidFill>
            </a:endParaRPr>
          </a:p>
          <a:p>
            <a:pPr indent="-336550" lvl="0" marL="457200" rtl="0" algn="l">
              <a:lnSpc>
                <a:spcPct val="115000"/>
              </a:lnSpc>
              <a:spcBef>
                <a:spcPts val="0"/>
              </a:spcBef>
              <a:spcAft>
                <a:spcPts val="0"/>
              </a:spcAft>
              <a:buClr>
                <a:schemeClr val="lt1"/>
              </a:buClr>
              <a:buSzPts val="1700"/>
              <a:buChar char="➔"/>
            </a:pPr>
            <a:r>
              <a:rPr lang="en" sz="1700">
                <a:solidFill>
                  <a:schemeClr val="lt1"/>
                </a:solidFill>
              </a:rPr>
              <a:t>Kemp Mill has the least bus stops.</a:t>
            </a:r>
            <a:endParaRPr sz="1700">
              <a:solidFill>
                <a:schemeClr val="lt1"/>
              </a:solidFill>
            </a:endParaRPr>
          </a:p>
          <a:p>
            <a:pPr indent="-336550" lvl="0" marL="457200" rtl="0" algn="l">
              <a:lnSpc>
                <a:spcPct val="115000"/>
              </a:lnSpc>
              <a:spcBef>
                <a:spcPts val="0"/>
              </a:spcBef>
              <a:spcAft>
                <a:spcPts val="0"/>
              </a:spcAft>
              <a:buClr>
                <a:schemeClr val="lt1"/>
              </a:buClr>
              <a:buSzPts val="1700"/>
              <a:buChar char="➔"/>
            </a:pPr>
            <a:r>
              <a:rPr lang="en" sz="1700">
                <a:solidFill>
                  <a:schemeClr val="lt1"/>
                </a:solidFill>
              </a:rPr>
              <a:t>The majority of bus stops only include RideOn routes.</a:t>
            </a:r>
            <a:endParaRPr sz="1700">
              <a:solidFill>
                <a:schemeClr val="lt1"/>
              </a:solidFill>
            </a:endParaRPr>
          </a:p>
          <a:p>
            <a:pPr indent="-336550" lvl="0" marL="457200" rtl="0" algn="l">
              <a:lnSpc>
                <a:spcPct val="115000"/>
              </a:lnSpc>
              <a:spcBef>
                <a:spcPts val="0"/>
              </a:spcBef>
              <a:spcAft>
                <a:spcPts val="0"/>
              </a:spcAft>
              <a:buClr>
                <a:schemeClr val="lt1"/>
              </a:buClr>
              <a:buSzPts val="1700"/>
              <a:buChar char="➔"/>
            </a:pPr>
            <a:r>
              <a:rPr lang="en" sz="1700">
                <a:solidFill>
                  <a:schemeClr val="lt1"/>
                </a:solidFill>
              </a:rPr>
              <a:t>White oak only has bus stops that include Metro routes.</a:t>
            </a:r>
            <a:endParaRPr sz="24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20" name="Shape 120"/>
        <p:cNvGrpSpPr/>
        <p:nvPr/>
      </p:nvGrpSpPr>
      <p:grpSpPr>
        <a:xfrm>
          <a:off x="0" y="0"/>
          <a:ext cx="0" cy="0"/>
          <a:chOff x="0" y="0"/>
          <a:chExt cx="0" cy="0"/>
        </a:xfrm>
      </p:grpSpPr>
      <p:sp>
        <p:nvSpPr>
          <p:cNvPr id="121" name="Google Shape;121;p18"/>
          <p:cNvSpPr txBox="1"/>
          <p:nvPr/>
        </p:nvSpPr>
        <p:spPr>
          <a:xfrm>
            <a:off x="365866" y="180825"/>
            <a:ext cx="5941500" cy="5079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lang="en" sz="3300">
                <a:solidFill>
                  <a:srgbClr val="FFFFFF"/>
                </a:solidFill>
                <a:latin typeface="Alfa Slab One"/>
                <a:ea typeface="Alfa Slab One"/>
                <a:cs typeface="Alfa Slab One"/>
                <a:sym typeface="Alfa Slab One"/>
              </a:rPr>
              <a:t>Bus stops with a bench</a:t>
            </a:r>
            <a:endParaRPr sz="700"/>
          </a:p>
        </p:txBody>
      </p:sp>
      <p:sp>
        <p:nvSpPr>
          <p:cNvPr id="122" name="Google Shape;122;p18"/>
          <p:cNvSpPr txBox="1"/>
          <p:nvPr/>
        </p:nvSpPr>
        <p:spPr>
          <a:xfrm>
            <a:off x="5648900" y="871050"/>
            <a:ext cx="2846400" cy="36813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2300">
                <a:solidFill>
                  <a:schemeClr val="lt1"/>
                </a:solidFill>
              </a:rPr>
              <a:t>White Oak</a:t>
            </a:r>
            <a:r>
              <a:rPr lang="en" sz="2300">
                <a:solidFill>
                  <a:schemeClr val="lt1"/>
                </a:solidFill>
              </a:rPr>
              <a:t> has the highest proportion of bus stops with at least one bench.</a:t>
            </a:r>
            <a:endParaRPr sz="23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2300">
                <a:solidFill>
                  <a:schemeClr val="lt1"/>
                </a:solidFill>
              </a:rPr>
              <a:t>The majority of towns have a proportion less than 25%.</a:t>
            </a:r>
            <a:endParaRPr sz="2300">
              <a:solidFill>
                <a:schemeClr val="lt1"/>
              </a:solidFill>
            </a:endParaRPr>
          </a:p>
        </p:txBody>
      </p:sp>
      <p:pic>
        <p:nvPicPr>
          <p:cNvPr id="123" name="Google Shape;123;p18"/>
          <p:cNvPicPr preferRelativeResize="0"/>
          <p:nvPr/>
        </p:nvPicPr>
        <p:blipFill>
          <a:blip r:embed="rId3">
            <a:alphaModFix/>
          </a:blip>
          <a:stretch>
            <a:fillRect/>
          </a:stretch>
        </p:blipFill>
        <p:spPr>
          <a:xfrm>
            <a:off x="365875" y="871050"/>
            <a:ext cx="4826575" cy="3978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27" name="Shape 127"/>
        <p:cNvGrpSpPr/>
        <p:nvPr/>
      </p:nvGrpSpPr>
      <p:grpSpPr>
        <a:xfrm>
          <a:off x="0" y="0"/>
          <a:ext cx="0" cy="0"/>
          <a:chOff x="0" y="0"/>
          <a:chExt cx="0" cy="0"/>
        </a:xfrm>
      </p:grpSpPr>
      <p:sp>
        <p:nvSpPr>
          <p:cNvPr id="128" name="Google Shape;128;p19"/>
          <p:cNvSpPr txBox="1"/>
          <p:nvPr/>
        </p:nvSpPr>
        <p:spPr>
          <a:xfrm>
            <a:off x="365866" y="180825"/>
            <a:ext cx="5941500" cy="5079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lang="en" sz="3300">
                <a:solidFill>
                  <a:srgbClr val="FFFFFF"/>
                </a:solidFill>
                <a:latin typeface="Alfa Slab One"/>
                <a:ea typeface="Alfa Slab One"/>
                <a:cs typeface="Alfa Slab One"/>
                <a:sym typeface="Alfa Slab One"/>
              </a:rPr>
              <a:t>Metro vs. RideOn</a:t>
            </a:r>
            <a:endParaRPr sz="700"/>
          </a:p>
        </p:txBody>
      </p:sp>
      <p:sp>
        <p:nvSpPr>
          <p:cNvPr id="129" name="Google Shape;129;p19"/>
          <p:cNvSpPr txBox="1"/>
          <p:nvPr/>
        </p:nvSpPr>
        <p:spPr>
          <a:xfrm>
            <a:off x="5506575" y="871050"/>
            <a:ext cx="3358800" cy="36813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Clr>
                <a:schemeClr val="lt1"/>
              </a:buClr>
              <a:buSzPts val="2300"/>
              <a:buChar char="➔"/>
            </a:pPr>
            <a:r>
              <a:rPr lang="en" sz="2300">
                <a:solidFill>
                  <a:schemeClr val="lt1"/>
                </a:solidFill>
              </a:rPr>
              <a:t>Bus stops including Metro routes have higher percentages across all amenities.</a:t>
            </a:r>
            <a:endParaRPr sz="2300">
              <a:solidFill>
                <a:schemeClr val="lt1"/>
              </a:solidFill>
            </a:endParaRPr>
          </a:p>
          <a:p>
            <a:pPr indent="-374650" lvl="0" marL="457200" rtl="0" algn="l">
              <a:lnSpc>
                <a:spcPct val="115000"/>
              </a:lnSpc>
              <a:spcBef>
                <a:spcPts val="0"/>
              </a:spcBef>
              <a:spcAft>
                <a:spcPts val="0"/>
              </a:spcAft>
              <a:buClr>
                <a:schemeClr val="lt1"/>
              </a:buClr>
              <a:buSzPts val="2300"/>
              <a:buChar char="➔"/>
            </a:pPr>
            <a:r>
              <a:rPr lang="en" sz="2300">
                <a:solidFill>
                  <a:schemeClr val="lt1"/>
                </a:solidFill>
              </a:rPr>
              <a:t>Supports claim</a:t>
            </a:r>
            <a:endParaRPr sz="2300">
              <a:solidFill>
                <a:schemeClr val="lt1"/>
              </a:solidFill>
            </a:endParaRPr>
          </a:p>
        </p:txBody>
      </p:sp>
      <p:pic>
        <p:nvPicPr>
          <p:cNvPr id="130" name="Google Shape;130;p19"/>
          <p:cNvPicPr preferRelativeResize="0"/>
          <p:nvPr/>
        </p:nvPicPr>
        <p:blipFill>
          <a:blip r:embed="rId3">
            <a:alphaModFix/>
          </a:blip>
          <a:stretch>
            <a:fillRect/>
          </a:stretch>
        </p:blipFill>
        <p:spPr>
          <a:xfrm>
            <a:off x="365875" y="871050"/>
            <a:ext cx="4842502" cy="3977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34" name="Shape 134"/>
        <p:cNvGrpSpPr/>
        <p:nvPr/>
      </p:nvGrpSpPr>
      <p:grpSpPr>
        <a:xfrm>
          <a:off x="0" y="0"/>
          <a:ext cx="0" cy="0"/>
          <a:chOff x="0" y="0"/>
          <a:chExt cx="0" cy="0"/>
        </a:xfrm>
      </p:grpSpPr>
      <p:grpSp>
        <p:nvGrpSpPr>
          <p:cNvPr id="135" name="Google Shape;135;p20"/>
          <p:cNvGrpSpPr/>
          <p:nvPr/>
        </p:nvGrpSpPr>
        <p:grpSpPr>
          <a:xfrm>
            <a:off x="-141394" y="-169327"/>
            <a:ext cx="9426695" cy="1517923"/>
            <a:chOff x="0" y="-28575"/>
            <a:chExt cx="4965600" cy="799580"/>
          </a:xfrm>
        </p:grpSpPr>
        <p:sp>
          <p:nvSpPr>
            <p:cNvPr id="136" name="Google Shape;136;p20"/>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7" name="Google Shape;137;p20"/>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8" name="Google Shape;138;p20"/>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Statistical Significance</a:t>
            </a:r>
            <a:endParaRPr sz="700"/>
          </a:p>
        </p:txBody>
      </p:sp>
      <p:pic>
        <p:nvPicPr>
          <p:cNvPr id="139" name="Google Shape;139;p20" title="chi_sq_results.png"/>
          <p:cNvPicPr preferRelativeResize="0"/>
          <p:nvPr/>
        </p:nvPicPr>
        <p:blipFill>
          <a:blip r:embed="rId3">
            <a:alphaModFix/>
          </a:blip>
          <a:stretch>
            <a:fillRect/>
          </a:stretch>
        </p:blipFill>
        <p:spPr>
          <a:xfrm>
            <a:off x="1054750" y="1839838"/>
            <a:ext cx="7034499" cy="263793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43" name="Shape 143"/>
        <p:cNvGrpSpPr/>
        <p:nvPr/>
      </p:nvGrpSpPr>
      <p:grpSpPr>
        <a:xfrm>
          <a:off x="0" y="0"/>
          <a:ext cx="0" cy="0"/>
          <a:chOff x="0" y="0"/>
          <a:chExt cx="0" cy="0"/>
        </a:xfrm>
      </p:grpSpPr>
      <p:grpSp>
        <p:nvGrpSpPr>
          <p:cNvPr id="144" name="Google Shape;144;p21"/>
          <p:cNvGrpSpPr/>
          <p:nvPr/>
        </p:nvGrpSpPr>
        <p:grpSpPr>
          <a:xfrm>
            <a:off x="-141394" y="-169327"/>
            <a:ext cx="9426695" cy="1517923"/>
            <a:chOff x="0" y="-28575"/>
            <a:chExt cx="4965600" cy="799580"/>
          </a:xfrm>
        </p:grpSpPr>
        <p:sp>
          <p:nvSpPr>
            <p:cNvPr id="145" name="Google Shape;145;p21"/>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6" name="Google Shape;146;p21"/>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7" name="Google Shape;147;p21"/>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Potential Reasons</a:t>
            </a:r>
            <a:endParaRPr sz="700"/>
          </a:p>
        </p:txBody>
      </p:sp>
      <p:sp>
        <p:nvSpPr>
          <p:cNvPr id="148" name="Google Shape;148;p21"/>
          <p:cNvSpPr/>
          <p:nvPr/>
        </p:nvSpPr>
        <p:spPr>
          <a:xfrm>
            <a:off x="1427949" y="1678275"/>
            <a:ext cx="6288121" cy="3051222"/>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9" name="Google Shape;149;p21"/>
          <p:cNvSpPr txBox="1"/>
          <p:nvPr/>
        </p:nvSpPr>
        <p:spPr>
          <a:xfrm>
            <a:off x="1654450" y="1958588"/>
            <a:ext cx="5835000" cy="2490600"/>
          </a:xfrm>
          <a:prstGeom prst="rect">
            <a:avLst/>
          </a:prstGeom>
          <a:noFill/>
          <a:ln>
            <a:noFill/>
          </a:ln>
        </p:spPr>
        <p:txBody>
          <a:bodyPr anchorCtr="0" anchor="t" bIns="91425" lIns="91425" spcFirstLastPara="1" rIns="91425" wrap="square" tIns="91425">
            <a:noAutofit/>
          </a:bodyPr>
          <a:lstStyle/>
          <a:p>
            <a:pPr indent="-387350" lvl="0" marL="457200" rtl="0" algn="l">
              <a:lnSpc>
                <a:spcPct val="150000"/>
              </a:lnSpc>
              <a:spcBef>
                <a:spcPts val="0"/>
              </a:spcBef>
              <a:spcAft>
                <a:spcPts val="0"/>
              </a:spcAft>
              <a:buClr>
                <a:schemeClr val="dk2"/>
              </a:buClr>
              <a:buSzPts val="2500"/>
              <a:buChar char="●"/>
            </a:pPr>
            <a:r>
              <a:rPr lang="en" sz="2500">
                <a:solidFill>
                  <a:schemeClr val="dk2"/>
                </a:solidFill>
              </a:rPr>
              <a:t>Less Metro bus stops overall</a:t>
            </a:r>
            <a:endParaRPr sz="2500">
              <a:solidFill>
                <a:schemeClr val="dk2"/>
              </a:solidFill>
            </a:endParaRPr>
          </a:p>
          <a:p>
            <a:pPr indent="-387350" lvl="0" marL="457200" rtl="0" algn="l">
              <a:lnSpc>
                <a:spcPct val="150000"/>
              </a:lnSpc>
              <a:spcBef>
                <a:spcPts val="0"/>
              </a:spcBef>
              <a:spcAft>
                <a:spcPts val="0"/>
              </a:spcAft>
              <a:buClr>
                <a:schemeClr val="dk2"/>
              </a:buClr>
              <a:buSzPts val="2500"/>
              <a:buChar char="●"/>
            </a:pPr>
            <a:r>
              <a:rPr lang="en" sz="2500">
                <a:solidFill>
                  <a:schemeClr val="dk2"/>
                </a:solidFill>
              </a:rPr>
              <a:t>Metro bus fare</a:t>
            </a:r>
            <a:endParaRPr sz="2500">
              <a:solidFill>
                <a:schemeClr val="dk2"/>
              </a:solidFill>
            </a:endParaRPr>
          </a:p>
          <a:p>
            <a:pPr indent="-387350" lvl="0" marL="457200" rtl="0" algn="l">
              <a:lnSpc>
                <a:spcPct val="150000"/>
              </a:lnSpc>
              <a:spcBef>
                <a:spcPts val="0"/>
              </a:spcBef>
              <a:spcAft>
                <a:spcPts val="0"/>
              </a:spcAft>
              <a:buClr>
                <a:schemeClr val="dk2"/>
              </a:buClr>
              <a:buSzPts val="2500"/>
              <a:buChar char="●"/>
            </a:pPr>
            <a:r>
              <a:rPr lang="en" sz="2500">
                <a:solidFill>
                  <a:schemeClr val="dk2"/>
                </a:solidFill>
              </a:rPr>
              <a:t>Metro bus operating zone</a:t>
            </a:r>
            <a:endParaRPr sz="2500">
              <a:solidFill>
                <a:schemeClr val="dk2"/>
              </a:solidFill>
            </a:endParaRPr>
          </a:p>
          <a:p>
            <a:pPr indent="-387350" lvl="0" marL="457200" rtl="0" algn="l">
              <a:lnSpc>
                <a:spcPct val="150000"/>
              </a:lnSpc>
              <a:spcBef>
                <a:spcPts val="0"/>
              </a:spcBef>
              <a:spcAft>
                <a:spcPts val="0"/>
              </a:spcAft>
              <a:buClr>
                <a:schemeClr val="dk2"/>
              </a:buClr>
              <a:buSzPts val="2500"/>
              <a:buChar char="●"/>
            </a:pPr>
            <a:r>
              <a:rPr lang="en" sz="2500">
                <a:solidFill>
                  <a:schemeClr val="dk2"/>
                </a:solidFill>
              </a:rPr>
              <a:t>Budget </a:t>
            </a:r>
            <a:r>
              <a:rPr lang="en" sz="2500">
                <a:solidFill>
                  <a:schemeClr val="dk2"/>
                </a:solidFill>
              </a:rPr>
              <a:t>stress</a:t>
            </a:r>
            <a:r>
              <a:rPr lang="en" sz="2500">
                <a:solidFill>
                  <a:schemeClr val="dk2"/>
                </a:solidFill>
              </a:rPr>
              <a:t> on MDOT</a:t>
            </a:r>
            <a:endParaRPr sz="25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53" name="Shape 153"/>
        <p:cNvGrpSpPr/>
        <p:nvPr/>
      </p:nvGrpSpPr>
      <p:grpSpPr>
        <a:xfrm>
          <a:off x="0" y="0"/>
          <a:ext cx="0" cy="0"/>
          <a:chOff x="0" y="0"/>
          <a:chExt cx="0" cy="0"/>
        </a:xfrm>
      </p:grpSpPr>
      <p:grpSp>
        <p:nvGrpSpPr>
          <p:cNvPr id="154" name="Google Shape;154;p22"/>
          <p:cNvGrpSpPr/>
          <p:nvPr/>
        </p:nvGrpSpPr>
        <p:grpSpPr>
          <a:xfrm>
            <a:off x="-141394" y="-169327"/>
            <a:ext cx="9426695" cy="1517923"/>
            <a:chOff x="0" y="-28575"/>
            <a:chExt cx="4965600" cy="799580"/>
          </a:xfrm>
        </p:grpSpPr>
        <p:sp>
          <p:nvSpPr>
            <p:cNvPr id="155" name="Google Shape;155;p22"/>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6" name="Google Shape;156;p22"/>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7" name="Google Shape;157;p22"/>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Recommendations</a:t>
            </a:r>
            <a:endParaRPr sz="700"/>
          </a:p>
        </p:txBody>
      </p:sp>
      <p:sp>
        <p:nvSpPr>
          <p:cNvPr id="158" name="Google Shape;158;p22"/>
          <p:cNvSpPr/>
          <p:nvPr/>
        </p:nvSpPr>
        <p:spPr>
          <a:xfrm>
            <a:off x="1427949" y="1678275"/>
            <a:ext cx="6288121" cy="3051222"/>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9" name="Google Shape;159;p22"/>
          <p:cNvSpPr txBox="1"/>
          <p:nvPr/>
        </p:nvSpPr>
        <p:spPr>
          <a:xfrm>
            <a:off x="1654450" y="1958588"/>
            <a:ext cx="5835000" cy="2490600"/>
          </a:xfrm>
          <a:prstGeom prst="rect">
            <a:avLst/>
          </a:prstGeom>
          <a:noFill/>
          <a:ln>
            <a:noFill/>
          </a:ln>
        </p:spPr>
        <p:txBody>
          <a:bodyPr anchorCtr="0" anchor="t" bIns="91425" lIns="91425" spcFirstLastPara="1" rIns="91425" wrap="square" tIns="91425">
            <a:noAutofit/>
          </a:bodyPr>
          <a:lstStyle/>
          <a:p>
            <a:pPr indent="-387350" lvl="0" marL="457200" rtl="0" algn="l">
              <a:lnSpc>
                <a:spcPct val="150000"/>
              </a:lnSpc>
              <a:spcBef>
                <a:spcPts val="0"/>
              </a:spcBef>
              <a:spcAft>
                <a:spcPts val="0"/>
              </a:spcAft>
              <a:buClr>
                <a:schemeClr val="dk2"/>
              </a:buClr>
              <a:buSzPts val="2500"/>
              <a:buChar char="➔"/>
            </a:pPr>
            <a:r>
              <a:rPr lang="en" sz="2500">
                <a:solidFill>
                  <a:schemeClr val="dk2"/>
                </a:solidFill>
              </a:rPr>
              <a:t>Focus on low bench rate towns like Olney and Clarksburg</a:t>
            </a:r>
            <a:endParaRPr sz="2500">
              <a:solidFill>
                <a:schemeClr val="dk2"/>
              </a:solidFill>
            </a:endParaRPr>
          </a:p>
          <a:p>
            <a:pPr indent="-387350" lvl="0" marL="457200" rtl="0" algn="l">
              <a:lnSpc>
                <a:spcPct val="150000"/>
              </a:lnSpc>
              <a:spcBef>
                <a:spcPts val="0"/>
              </a:spcBef>
              <a:spcAft>
                <a:spcPts val="0"/>
              </a:spcAft>
              <a:buClr>
                <a:schemeClr val="dk2"/>
              </a:buClr>
              <a:buSzPts val="2500"/>
              <a:buChar char="➔"/>
            </a:pPr>
            <a:r>
              <a:rPr lang="en" sz="2500">
                <a:solidFill>
                  <a:schemeClr val="dk2"/>
                </a:solidFill>
              </a:rPr>
              <a:t>Focus on towns with high elderly populations</a:t>
            </a:r>
            <a:endParaRPr sz="25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63" name="Shape 163"/>
        <p:cNvGrpSpPr/>
        <p:nvPr/>
      </p:nvGrpSpPr>
      <p:grpSpPr>
        <a:xfrm>
          <a:off x="0" y="0"/>
          <a:ext cx="0" cy="0"/>
          <a:chOff x="0" y="0"/>
          <a:chExt cx="0" cy="0"/>
        </a:xfrm>
      </p:grpSpPr>
      <p:grpSp>
        <p:nvGrpSpPr>
          <p:cNvPr id="164" name="Google Shape;164;p23"/>
          <p:cNvGrpSpPr/>
          <p:nvPr/>
        </p:nvGrpSpPr>
        <p:grpSpPr>
          <a:xfrm>
            <a:off x="-141394" y="-169327"/>
            <a:ext cx="9426695" cy="1517923"/>
            <a:chOff x="0" y="-28575"/>
            <a:chExt cx="4965600" cy="799580"/>
          </a:xfrm>
        </p:grpSpPr>
        <p:sp>
          <p:nvSpPr>
            <p:cNvPr id="165" name="Google Shape;165;p23"/>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6" name="Google Shape;166;p23"/>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7" name="Google Shape;167;p23"/>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Reflection</a:t>
            </a:r>
            <a:endParaRPr sz="700"/>
          </a:p>
        </p:txBody>
      </p:sp>
      <p:sp>
        <p:nvSpPr>
          <p:cNvPr id="168" name="Google Shape;168;p23"/>
          <p:cNvSpPr/>
          <p:nvPr/>
        </p:nvSpPr>
        <p:spPr>
          <a:xfrm>
            <a:off x="325138" y="1729125"/>
            <a:ext cx="2456613" cy="2459629"/>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9" name="Google Shape;169;p23"/>
          <p:cNvSpPr txBox="1"/>
          <p:nvPr/>
        </p:nvSpPr>
        <p:spPr>
          <a:xfrm>
            <a:off x="311063" y="1729125"/>
            <a:ext cx="2437200" cy="18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Challenges: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Creating connected data story</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Implementation</a:t>
            </a:r>
            <a:r>
              <a:rPr lang="en" sz="1800">
                <a:solidFill>
                  <a:schemeClr val="dk2"/>
                </a:solidFill>
              </a:rPr>
              <a:t> in R Studio</a:t>
            </a:r>
            <a:endParaRPr sz="1800">
              <a:solidFill>
                <a:schemeClr val="dk2"/>
              </a:solidFill>
            </a:endParaRPr>
          </a:p>
        </p:txBody>
      </p:sp>
      <p:sp>
        <p:nvSpPr>
          <p:cNvPr id="170" name="Google Shape;170;p23"/>
          <p:cNvSpPr/>
          <p:nvPr/>
        </p:nvSpPr>
        <p:spPr>
          <a:xfrm>
            <a:off x="3350688" y="1768575"/>
            <a:ext cx="2456613" cy="2459629"/>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1" name="Google Shape;171;p23"/>
          <p:cNvSpPr txBox="1"/>
          <p:nvPr/>
        </p:nvSpPr>
        <p:spPr>
          <a:xfrm>
            <a:off x="3350675" y="1768575"/>
            <a:ext cx="2437200" cy="18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Retrospective Changes: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Using population and demographic data directly in joined dataset</a:t>
            </a:r>
            <a:endParaRPr sz="1800">
              <a:solidFill>
                <a:schemeClr val="dk2"/>
              </a:solidFill>
            </a:endParaRPr>
          </a:p>
        </p:txBody>
      </p:sp>
      <p:sp>
        <p:nvSpPr>
          <p:cNvPr id="172" name="Google Shape;172;p23"/>
          <p:cNvSpPr/>
          <p:nvPr/>
        </p:nvSpPr>
        <p:spPr>
          <a:xfrm>
            <a:off x="6376213" y="1768575"/>
            <a:ext cx="2456613" cy="2459629"/>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3" name="Google Shape;173;p23"/>
          <p:cNvSpPr txBox="1"/>
          <p:nvPr/>
        </p:nvSpPr>
        <p:spPr>
          <a:xfrm>
            <a:off x="6376213" y="1768575"/>
            <a:ext cx="2437200" cy="18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Rewards: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Completing the project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Finding statistical significant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Nearest Neighbors implementation</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77" name="Shape 177"/>
        <p:cNvGrpSpPr/>
        <p:nvPr/>
      </p:nvGrpSpPr>
      <p:grpSpPr>
        <a:xfrm>
          <a:off x="0" y="0"/>
          <a:ext cx="0" cy="0"/>
          <a:chOff x="0" y="0"/>
          <a:chExt cx="0" cy="0"/>
        </a:xfrm>
      </p:grpSpPr>
      <p:grpSp>
        <p:nvGrpSpPr>
          <p:cNvPr id="178" name="Google Shape;178;p24"/>
          <p:cNvGrpSpPr/>
          <p:nvPr/>
        </p:nvGrpSpPr>
        <p:grpSpPr>
          <a:xfrm>
            <a:off x="-141394" y="-169327"/>
            <a:ext cx="9426695" cy="1517923"/>
            <a:chOff x="0" y="-28575"/>
            <a:chExt cx="4965600" cy="799580"/>
          </a:xfrm>
        </p:grpSpPr>
        <p:sp>
          <p:nvSpPr>
            <p:cNvPr id="179" name="Google Shape;179;p24"/>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0" name="Google Shape;180;p24"/>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81" name="Google Shape;181;p24"/>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Next Steps</a:t>
            </a:r>
            <a:endParaRPr sz="700"/>
          </a:p>
        </p:txBody>
      </p:sp>
      <p:sp>
        <p:nvSpPr>
          <p:cNvPr id="182" name="Google Shape;182;p24"/>
          <p:cNvSpPr/>
          <p:nvPr/>
        </p:nvSpPr>
        <p:spPr>
          <a:xfrm>
            <a:off x="300875" y="1696063"/>
            <a:ext cx="4058972" cy="3051222"/>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3" name="Google Shape;183;p24"/>
          <p:cNvSpPr txBox="1"/>
          <p:nvPr/>
        </p:nvSpPr>
        <p:spPr>
          <a:xfrm>
            <a:off x="527375" y="1976388"/>
            <a:ext cx="3629400" cy="24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500">
                <a:solidFill>
                  <a:schemeClr val="dk2"/>
                </a:solidFill>
              </a:rPr>
              <a:t>Expanded Nearest Neighbors analysis:</a:t>
            </a:r>
            <a:endParaRPr sz="2500">
              <a:solidFill>
                <a:schemeClr val="dk2"/>
              </a:solidFill>
            </a:endParaRPr>
          </a:p>
          <a:p>
            <a:pPr indent="-387350" lvl="0" marL="457200" rtl="0" algn="l">
              <a:lnSpc>
                <a:spcPct val="100000"/>
              </a:lnSpc>
              <a:spcBef>
                <a:spcPts val="0"/>
              </a:spcBef>
              <a:spcAft>
                <a:spcPts val="0"/>
              </a:spcAft>
              <a:buClr>
                <a:schemeClr val="dk2"/>
              </a:buClr>
              <a:buSzPts val="2500"/>
              <a:buChar char="-"/>
            </a:pPr>
            <a:r>
              <a:rPr lang="en" sz="2500">
                <a:solidFill>
                  <a:schemeClr val="dk2"/>
                </a:solidFill>
              </a:rPr>
              <a:t>Include plotting where bus stops are located in specific towns</a:t>
            </a:r>
            <a:endParaRPr sz="2500">
              <a:solidFill>
                <a:schemeClr val="dk2"/>
              </a:solidFill>
            </a:endParaRPr>
          </a:p>
        </p:txBody>
      </p:sp>
      <p:sp>
        <p:nvSpPr>
          <p:cNvPr id="184" name="Google Shape;184;p24"/>
          <p:cNvSpPr/>
          <p:nvPr/>
        </p:nvSpPr>
        <p:spPr>
          <a:xfrm>
            <a:off x="4722850" y="1696063"/>
            <a:ext cx="4058972" cy="3051222"/>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5" name="Google Shape;185;p24"/>
          <p:cNvSpPr txBox="1"/>
          <p:nvPr/>
        </p:nvSpPr>
        <p:spPr>
          <a:xfrm>
            <a:off x="4949350" y="1976388"/>
            <a:ext cx="3629400" cy="24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500">
                <a:solidFill>
                  <a:schemeClr val="dk2"/>
                </a:solidFill>
              </a:rPr>
              <a:t>Logistic Linear Regression:</a:t>
            </a:r>
            <a:endParaRPr sz="2500">
              <a:solidFill>
                <a:schemeClr val="dk2"/>
              </a:solidFill>
            </a:endParaRPr>
          </a:p>
          <a:p>
            <a:pPr indent="-387350" lvl="0" marL="457200" rtl="0" algn="l">
              <a:lnSpc>
                <a:spcPct val="100000"/>
              </a:lnSpc>
              <a:spcBef>
                <a:spcPts val="0"/>
              </a:spcBef>
              <a:spcAft>
                <a:spcPts val="0"/>
              </a:spcAft>
              <a:buClr>
                <a:schemeClr val="dk2"/>
              </a:buClr>
              <a:buSzPts val="2500"/>
              <a:buChar char="-"/>
            </a:pPr>
            <a:r>
              <a:rPr lang="en" sz="2500">
                <a:solidFill>
                  <a:schemeClr val="dk2"/>
                </a:solidFill>
              </a:rPr>
              <a:t>Include variables like population and age demographics</a:t>
            </a:r>
            <a:endParaRPr sz="25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89" name="Shape 189"/>
        <p:cNvGrpSpPr/>
        <p:nvPr/>
      </p:nvGrpSpPr>
      <p:grpSpPr>
        <a:xfrm>
          <a:off x="0" y="0"/>
          <a:ext cx="0" cy="0"/>
          <a:chOff x="0" y="0"/>
          <a:chExt cx="0" cy="0"/>
        </a:xfrm>
      </p:grpSpPr>
      <p:grpSp>
        <p:nvGrpSpPr>
          <p:cNvPr id="190" name="Google Shape;190;p25"/>
          <p:cNvGrpSpPr/>
          <p:nvPr/>
        </p:nvGrpSpPr>
        <p:grpSpPr>
          <a:xfrm>
            <a:off x="-141394" y="-169327"/>
            <a:ext cx="9426695" cy="1517923"/>
            <a:chOff x="0" y="-28575"/>
            <a:chExt cx="4965600" cy="799580"/>
          </a:xfrm>
        </p:grpSpPr>
        <p:sp>
          <p:nvSpPr>
            <p:cNvPr id="191" name="Google Shape;191;p25"/>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2" name="Google Shape;192;p25"/>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93" name="Google Shape;193;p25"/>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Acknowledgements</a:t>
            </a:r>
            <a:endParaRPr sz="700"/>
          </a:p>
        </p:txBody>
      </p:sp>
      <p:sp>
        <p:nvSpPr>
          <p:cNvPr id="194" name="Google Shape;194;p25"/>
          <p:cNvSpPr txBox="1"/>
          <p:nvPr/>
        </p:nvSpPr>
        <p:spPr>
          <a:xfrm>
            <a:off x="2143600" y="1506200"/>
            <a:ext cx="4856700" cy="342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Professor Alraee</a:t>
            </a:r>
            <a:endParaRPr sz="3000">
              <a:solidFill>
                <a:schemeClr val="lt1"/>
              </a:solidFill>
            </a:endParaRPr>
          </a:p>
          <a:p>
            <a:pPr indent="0" lvl="0" marL="0" rtl="0" algn="ctr">
              <a:spcBef>
                <a:spcPts val="0"/>
              </a:spcBef>
              <a:spcAft>
                <a:spcPts val="0"/>
              </a:spcAft>
              <a:buNone/>
            </a:pPr>
            <a:r>
              <a:rPr lang="en" sz="3000">
                <a:solidFill>
                  <a:schemeClr val="lt1"/>
                </a:solidFill>
              </a:rPr>
              <a:t>Professor Perine</a:t>
            </a:r>
            <a:endParaRPr sz="3000">
              <a:solidFill>
                <a:schemeClr val="lt1"/>
              </a:solidFill>
            </a:endParaRPr>
          </a:p>
          <a:p>
            <a:pPr indent="0" lvl="0" marL="0" rtl="0" algn="ctr">
              <a:spcBef>
                <a:spcPts val="0"/>
              </a:spcBef>
              <a:spcAft>
                <a:spcPts val="0"/>
              </a:spcAft>
              <a:buNone/>
            </a:pPr>
            <a:r>
              <a:rPr lang="en" sz="3000">
                <a:solidFill>
                  <a:schemeClr val="lt1"/>
                </a:solidFill>
              </a:rPr>
              <a:t>Professor Park</a:t>
            </a:r>
            <a:endParaRPr sz="3000">
              <a:solidFill>
                <a:schemeClr val="lt1"/>
              </a:solidFill>
            </a:endParaRPr>
          </a:p>
          <a:p>
            <a:pPr indent="0" lvl="0" marL="0" rtl="0" algn="ctr">
              <a:spcBef>
                <a:spcPts val="0"/>
              </a:spcBef>
              <a:spcAft>
                <a:spcPts val="0"/>
              </a:spcAft>
              <a:buNone/>
            </a:pPr>
            <a:r>
              <a:rPr lang="en" sz="3000">
                <a:solidFill>
                  <a:schemeClr val="lt1"/>
                </a:solidFill>
              </a:rPr>
              <a:t>Data Montgomery</a:t>
            </a:r>
            <a:endParaRPr sz="3000">
              <a:solidFill>
                <a:schemeClr val="lt1"/>
              </a:solidFill>
            </a:endParaRPr>
          </a:p>
          <a:p>
            <a:pPr indent="0" lvl="0" marL="0" rtl="0" algn="ctr">
              <a:spcBef>
                <a:spcPts val="0"/>
              </a:spcBef>
              <a:spcAft>
                <a:spcPts val="0"/>
              </a:spcAft>
              <a:buNone/>
            </a:pPr>
            <a:r>
              <a:rPr lang="en" sz="3000">
                <a:solidFill>
                  <a:schemeClr val="lt1"/>
                </a:solidFill>
              </a:rPr>
              <a:t>Data 205 classmates</a:t>
            </a:r>
            <a:endParaRPr sz="3000">
              <a:solidFill>
                <a:schemeClr val="lt1"/>
              </a:solidFill>
            </a:endParaRPr>
          </a:p>
          <a:p>
            <a:pPr indent="0" lvl="0" marL="0" rtl="0" algn="ctr">
              <a:spcBef>
                <a:spcPts val="0"/>
              </a:spcBef>
              <a:spcAft>
                <a:spcPts val="0"/>
              </a:spcAft>
              <a:buNone/>
            </a:pPr>
            <a:r>
              <a:rPr lang="en" sz="3000">
                <a:solidFill>
                  <a:schemeClr val="lt1"/>
                </a:solidFill>
              </a:rPr>
              <a:t>Early College </a:t>
            </a:r>
            <a:r>
              <a:rPr lang="en" sz="3000">
                <a:solidFill>
                  <a:schemeClr val="lt1"/>
                </a:solidFill>
              </a:rPr>
              <a:t>data science</a:t>
            </a:r>
            <a:r>
              <a:rPr lang="en" sz="3000">
                <a:solidFill>
                  <a:schemeClr val="lt1"/>
                </a:solidFill>
              </a:rPr>
              <a:t> cohort</a:t>
            </a:r>
            <a:endParaRPr sz="30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98" name="Shape 198"/>
        <p:cNvGrpSpPr/>
        <p:nvPr/>
      </p:nvGrpSpPr>
      <p:grpSpPr>
        <a:xfrm>
          <a:off x="0" y="0"/>
          <a:ext cx="0" cy="0"/>
          <a:chOff x="0" y="0"/>
          <a:chExt cx="0" cy="0"/>
        </a:xfrm>
      </p:grpSpPr>
      <p:grpSp>
        <p:nvGrpSpPr>
          <p:cNvPr id="199" name="Google Shape;199;p26"/>
          <p:cNvGrpSpPr/>
          <p:nvPr/>
        </p:nvGrpSpPr>
        <p:grpSpPr>
          <a:xfrm>
            <a:off x="-141394" y="-169327"/>
            <a:ext cx="9426695" cy="1517923"/>
            <a:chOff x="0" y="-28575"/>
            <a:chExt cx="4965600" cy="799580"/>
          </a:xfrm>
        </p:grpSpPr>
        <p:sp>
          <p:nvSpPr>
            <p:cNvPr id="200" name="Google Shape;200;p26"/>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1" name="Google Shape;201;p26"/>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2" name="Google Shape;202;p26"/>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Sources</a:t>
            </a:r>
            <a:endParaRPr sz="700"/>
          </a:p>
        </p:txBody>
      </p:sp>
      <p:sp>
        <p:nvSpPr>
          <p:cNvPr id="203" name="Google Shape;203;p26"/>
          <p:cNvSpPr txBox="1"/>
          <p:nvPr/>
        </p:nvSpPr>
        <p:spPr>
          <a:xfrm>
            <a:off x="473550" y="1241850"/>
            <a:ext cx="8196900" cy="3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900">
              <a:solidFill>
                <a:schemeClr val="lt1"/>
              </a:solidFill>
            </a:endParaRPr>
          </a:p>
          <a:p>
            <a:pPr indent="0" lvl="0" marL="0" rtl="0" algn="ctr">
              <a:spcBef>
                <a:spcPts val="0"/>
              </a:spcBef>
              <a:spcAft>
                <a:spcPts val="0"/>
              </a:spcAft>
              <a:buNone/>
            </a:pPr>
            <a:r>
              <a:rPr lang="en" sz="1900">
                <a:solidFill>
                  <a:schemeClr val="lt1"/>
                </a:solidFill>
              </a:rPr>
              <a:t>Goffman, Ethan. “Transit advocates weigh in on Maryland’s $2B transportation shortfall.” Greater Greater Washington, Greater Greater Washington, 16 Janurary 2024, https://ggwash.org/view/92186/with-maryland-facing-2-billion-in-transportation-cuts-advocates-say-transit-needs-to-be-prioritized. Accessed May 2026.</a:t>
            </a:r>
            <a:endParaRPr sz="1900">
              <a:solidFill>
                <a:schemeClr val="lt1"/>
              </a:solidFill>
            </a:endParaRPr>
          </a:p>
          <a:p>
            <a:pPr indent="0" lvl="0" marL="0" rtl="0" algn="ctr">
              <a:spcBef>
                <a:spcPts val="0"/>
              </a:spcBef>
              <a:spcAft>
                <a:spcPts val="0"/>
              </a:spcAft>
              <a:buNone/>
            </a:pPr>
            <a:r>
              <a:rPr lang="en" sz="1900">
                <a:solidFill>
                  <a:schemeClr val="lt1"/>
                </a:solidFill>
              </a:rPr>
              <a:t>Montgomery Planning Research and Strategic Projects Division. “Older Adult Population in Montgomery County.” Montgomery Planning, Montgomery Planning, 2024, https://montgomeryplanning.org/wp-content/uploads/2025/05/Older-Adult-Population-Profile-FINAL.pdf. Accessed May 2026.</a:t>
            </a:r>
            <a:endParaRPr sz="19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